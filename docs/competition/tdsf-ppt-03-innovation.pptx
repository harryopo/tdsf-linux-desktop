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2103120"/>
            <a:ext cx="10332720" cy="2560320"/>
          </a:xfrm>
          <a:prstGeom prst="rect">
            <a:avLst/>
          </a:prstGeom>
          <a:solidFill>
            <a:srgbClr val="2324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TDSF Linux Desktop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创新点与学术亮点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大创新 · 论文支撑 · 行业对标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5029200"/>
            <a:ext cx="2468880" cy="914400"/>
          </a:xfrm>
          <a:prstGeom prst="rect">
            <a:avLst>
              <a:gd name="adj" fmla="val 500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166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5669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5029200"/>
            <a:ext cx="2468880" cy="914400"/>
          </a:xfrm>
          <a:prstGeom prst="rect">
            <a:avLst>
              <a:gd name="adj" fmla="val 500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5166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87.5%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66160" y="5669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HITL 接受率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5029200"/>
            <a:ext cx="2468880" cy="914400"/>
          </a:xfrm>
          <a:prstGeom prst="rect">
            <a:avLst>
              <a:gd name="adj" fmla="val 500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5166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&lt;10ms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17920" y="5669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补全延迟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869680" y="5029200"/>
            <a:ext cx="2468880" cy="914400"/>
          </a:xfrm>
          <a:prstGeom prst="rect">
            <a:avLst>
              <a:gd name="adj" fmla="val 500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0" y="5166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5/8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869680" y="5669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logprobs 直采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 ①：可信度算法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D-S 证据理论 + PCR5 融合规则 · 论文支撑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5669280" cy="5029200"/>
          </a:xfrm>
          <a:prstGeom prst="rect">
            <a:avLst>
              <a:gd name="adj" fmla="val 909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算法理论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73152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Dempster-Shafer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证据理论框架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允许「不确定」与「冲突」建模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73152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88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PCR5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Proportional Conflict Redistribution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冲突按比例分配给各假设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73152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94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源证据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多源信息融合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389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风险评分、白名单、历史、ML...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73152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800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最终可信度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5120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0-1.0 数值化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5394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透明展示决策依据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5852160"/>
            <a:ext cx="5303520" cy="32004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8704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📚 论文引用：Smets 2007 / Martin &amp; Osswald 2007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72200" y="1188720"/>
            <a:ext cx="5669280" cy="5029200"/>
          </a:xfrm>
          <a:prstGeom prst="rect">
            <a:avLst>
              <a:gd name="adj" fmla="val 909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1325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⚖️ 6 源证据权重示例（rm -rf / 案例）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550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白名单策略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1874520"/>
            <a:ext cx="3200400" cy="18288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30" name="Shape 28"/>
          <p:cNvSpPr/>
          <p:nvPr/>
        </p:nvSpPr>
        <p:spPr>
          <a:xfrm>
            <a:off x="8229600" y="1874520"/>
            <a:ext cx="3040380" cy="182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1152144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命令模式 ML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0" y="2468880"/>
            <a:ext cx="3200400" cy="18288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34" name="Shape 32"/>
          <p:cNvSpPr/>
          <p:nvPr/>
        </p:nvSpPr>
        <p:spPr>
          <a:xfrm>
            <a:off x="8229600" y="2468880"/>
            <a:ext cx="2816352" cy="182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1152144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550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历史执行频率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29600" y="3063240"/>
            <a:ext cx="3200400" cy="18288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38" name="Shape 36"/>
          <p:cNvSpPr/>
          <p:nvPr/>
        </p:nvSpPr>
        <p:spPr>
          <a:xfrm>
            <a:off x="8229600" y="3063240"/>
            <a:ext cx="2304288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1152144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550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用户权限等级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229600" y="3657600"/>
            <a:ext cx="3200400" cy="18288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42" name="Shape 40"/>
          <p:cNvSpPr/>
          <p:nvPr/>
        </p:nvSpPr>
        <p:spPr>
          <a:xfrm>
            <a:off x="8229600" y="3657600"/>
            <a:ext cx="208026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1152144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5508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目标路径敏感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229600" y="4251960"/>
            <a:ext cx="3200400" cy="18288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46" name="Shape 44"/>
          <p:cNvSpPr/>
          <p:nvPr/>
        </p:nvSpPr>
        <p:spPr>
          <a:xfrm>
            <a:off x="8229600" y="4251960"/>
            <a:ext cx="2944368" cy="182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7" name="Text 45"/>
          <p:cNvSpPr/>
          <p:nvPr/>
        </p:nvSpPr>
        <p:spPr>
          <a:xfrm>
            <a:off x="1152144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0.92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355080" y="4754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时段风险评估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229600" y="4846320"/>
            <a:ext cx="3200400" cy="18288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50" name="Shape 48"/>
          <p:cNvSpPr/>
          <p:nvPr/>
        </p:nvSpPr>
        <p:spPr>
          <a:xfrm>
            <a:off x="8229600" y="4846320"/>
            <a:ext cx="14401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1152144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0.45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355080" y="5486400"/>
            <a:ext cx="5303520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3" name="Text 51"/>
          <p:cNvSpPr/>
          <p:nvPr/>
        </p:nvSpPr>
        <p:spPr>
          <a:xfrm>
            <a:off x="6446520" y="55321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D-S + PCR5 融合 → 最终可信度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0058400" y="54864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0.92</a:t>
            </a:r>
            <a:endParaRPr lang="en-US" sz="2800" dirty="0"/>
          </a:p>
        </p:txBody>
      </p:sp>
      <p:sp>
        <p:nvSpPr>
          <p:cNvPr id="55" name="Text 53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8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 ②：HITL CoPilot 模式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87.5% 接受率 &gt; 25% 完全自主 · 论文验证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5669280" cy="2103120"/>
          </a:xfrm>
          <a:prstGeom prst="rect">
            <a:avLst>
              <a:gd name="adj" fmla="val 2174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AutoResearchClaw 论文数据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87.5%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310896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HITL CoPilot 接受率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人工介入协同，决策可审计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0896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人保留最终决策权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08960" y="2697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2697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2697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完全自主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188720"/>
            <a:ext cx="5669280" cy="2103120"/>
          </a:xfrm>
          <a:prstGeom prst="rect">
            <a:avLst>
              <a:gd name="adj" fmla="val 2174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325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 三态权限审批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1783080"/>
            <a:ext cx="1645920" cy="1371600"/>
          </a:xfrm>
          <a:prstGeom prst="rect">
            <a:avLst/>
          </a:prstGeom>
          <a:solidFill>
            <a:srgbClr val="0F0F12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874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ALWAYS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23774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本次允许 + 永久记忆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138160" y="1783080"/>
            <a:ext cx="1645920" cy="1371600"/>
          </a:xfrm>
          <a:prstGeom prst="rect">
            <a:avLst/>
          </a:prstGeom>
          <a:solidFill>
            <a:srgbClr val="0F0F12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874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38160" y="23774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本次自动允许（一次性）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921240" y="1783080"/>
            <a:ext cx="1645920" cy="1371600"/>
          </a:xfrm>
          <a:prstGeom prst="rect">
            <a:avLst/>
          </a:prstGeom>
          <a:solidFill>
            <a:srgbClr val="0F0F1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21240" y="1874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NEVER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921240" y="23774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本次拒绝 + 永久拒绝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429000"/>
            <a:ext cx="11430000" cy="2788920"/>
          </a:xfrm>
          <a:prstGeom prst="rect">
            <a:avLst>
              <a:gd name="adj" fmla="val 1639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566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🔀 主对话与后台 Review 解耦架构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114800"/>
            <a:ext cx="2697480" cy="1280160"/>
          </a:xfrm>
          <a:prstGeom prst="rect">
            <a:avLst/>
          </a:prstGeom>
          <a:solidFill>
            <a:srgbClr val="0F0F12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1605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用户输入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45262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主对话流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8006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立即响应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50749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步骤 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4663440"/>
            <a:ext cx="137160" cy="182880"/>
          </a:xfrm>
          <a:prstGeom prst="rightArrow">
            <a:avLst/>
          </a:prstGeom>
          <a:solidFill>
            <a:srgbClr val="818CF8"/>
          </a:solidFill>
          <a:ln/>
        </p:spPr>
      </p:sp>
      <p:sp>
        <p:nvSpPr>
          <p:cNvPr id="34" name="Shape 32"/>
          <p:cNvSpPr/>
          <p:nvPr/>
        </p:nvSpPr>
        <p:spPr>
          <a:xfrm>
            <a:off x="3429000" y="4114800"/>
            <a:ext cx="2697480" cy="1280160"/>
          </a:xfrm>
          <a:prstGeom prst="rect">
            <a:avLst/>
          </a:prstGeom>
          <a:solidFill>
            <a:srgbClr val="0F0F1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29000" y="41605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生成建议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29000" y="45262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 Review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429000" y="48006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异步审计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29000" y="50749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步骤 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72200" y="4663440"/>
            <a:ext cx="137160" cy="182880"/>
          </a:xfrm>
          <a:prstGeom prst="rightArrow">
            <a:avLst/>
          </a:prstGeom>
          <a:solidFill>
            <a:srgbClr val="818CF8"/>
          </a:solidFill>
          <a:ln/>
        </p:spPr>
      </p:sp>
      <p:sp>
        <p:nvSpPr>
          <p:cNvPr id="40" name="Shape 38"/>
          <p:cNvSpPr/>
          <p:nvPr/>
        </p:nvSpPr>
        <p:spPr>
          <a:xfrm>
            <a:off x="6309360" y="4114800"/>
            <a:ext cx="2697480" cy="1280160"/>
          </a:xfrm>
          <a:prstGeom prst="rect">
            <a:avLst/>
          </a:prstGeom>
          <a:solidFill>
            <a:srgbClr val="0F0F1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41605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HITL 审批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309360" y="45262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三态权限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09360" y="48006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记录决策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09360" y="50749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步骤 3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052560" y="4663440"/>
            <a:ext cx="137160" cy="182880"/>
          </a:xfrm>
          <a:prstGeom prst="rightArrow">
            <a:avLst/>
          </a:prstGeom>
          <a:solidFill>
            <a:srgbClr val="818CF8"/>
          </a:solidFill>
          <a:ln/>
        </p:spPr>
      </p:sp>
      <p:sp>
        <p:nvSpPr>
          <p:cNvPr id="46" name="Shape 44"/>
          <p:cNvSpPr/>
          <p:nvPr/>
        </p:nvSpPr>
        <p:spPr>
          <a:xfrm>
            <a:off x="9189720" y="4114800"/>
            <a:ext cx="2697480" cy="1280160"/>
          </a:xfrm>
          <a:prstGeom prst="rect">
            <a:avLst/>
          </a:prstGeom>
          <a:solidFill>
            <a:srgbClr val="0F0F1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89720" y="41605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 + 落盘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189720" y="45262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审计日志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189720" y="48006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189720" y="50749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步骤 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解耦价值：主对话不阻塞，后台审计可异步深入分析，证据链完整保留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8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 ③：零 Token 本地补全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Trie + Frecency + SQLite · 延迟 &lt;10ms · 离线可用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5669280" cy="5029200"/>
          </a:xfrm>
          <a:prstGeom prst="rect">
            <a:avLst>
              <a:gd name="adj" fmla="val 909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技术架构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73152" cy="8686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Trie 前缀树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O(L) 查找复杂度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为前缀长度，&lt;1ms 完成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73152" cy="8686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43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Frecency 评分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063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天半衰期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337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 × 时间衰减，越新越优先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73152" cy="8686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03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持久化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023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本地嵌入式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297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零依赖，跨进程共享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73152" cy="8686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663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ghost text UI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983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xterm.js Addon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5257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灰色提示文本，Tab 接受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72200" y="1188720"/>
            <a:ext cx="5669280" cy="5029200"/>
          </a:xfrm>
          <a:prstGeom prst="rect">
            <a:avLst>
              <a:gd name="adj" fmla="val 909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325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数据源与性能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17830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jaywcjlove/linux-command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1832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2300+ 词条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789920" y="21031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协议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55080" y="2514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tldr-pages/tldr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418320" y="2514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社区维护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789920" y="2514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协议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55080" y="2926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运维专项人工兜底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418320" y="2926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50+ 词条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789920" y="29260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55080" y="35204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性能指标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55080" y="3840480"/>
            <a:ext cx="2468880" cy="54864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38" name="Text 36"/>
          <p:cNvSpPr/>
          <p:nvPr/>
        </p:nvSpPr>
        <p:spPr>
          <a:xfrm>
            <a:off x="6355080" y="3886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查找延迟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818120" y="3886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&lt;10ms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006840" y="3840480"/>
            <a:ext cx="2468880" cy="54864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41" name="Text 39"/>
          <p:cNvSpPr/>
          <p:nvPr/>
        </p:nvSpPr>
        <p:spPr>
          <a:xfrm>
            <a:off x="9006840" y="3886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消耗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469880" y="3886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355080" y="4480560"/>
            <a:ext cx="2468880" cy="54864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44" name="Text 42"/>
          <p:cNvSpPr/>
          <p:nvPr/>
        </p:nvSpPr>
        <p:spPr>
          <a:xfrm>
            <a:off x="6355080" y="4526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离线可用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818120" y="4526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9006840" y="4480560"/>
            <a:ext cx="2468880" cy="54864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47" name="Text 45"/>
          <p:cNvSpPr/>
          <p:nvPr/>
        </p:nvSpPr>
        <p:spPr>
          <a:xfrm>
            <a:off x="9006840" y="4526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首次加载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469880" y="4526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~50ms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355080" y="5120640"/>
            <a:ext cx="2468880" cy="54864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50" name="Text 48"/>
          <p:cNvSpPr/>
          <p:nvPr/>
        </p:nvSpPr>
        <p:spPr>
          <a:xfrm>
            <a:off x="6355080" y="5166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内存占用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818120" y="5166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&lt;5MB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9006840" y="5120640"/>
            <a:ext cx="2468880" cy="54864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53" name="Text 51"/>
          <p:cNvSpPr/>
          <p:nvPr/>
        </p:nvSpPr>
        <p:spPr>
          <a:xfrm>
            <a:off x="9006840" y="5166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469880" y="5166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6355080" y="5852160"/>
            <a:ext cx="5303520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6" name="Text 54"/>
          <p:cNvSpPr/>
          <p:nvPr/>
        </p:nvSpPr>
        <p:spPr>
          <a:xfrm>
            <a:off x="6446520" y="58704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完全本地化，无任何网络请求，比赛现场网络不稳亦可用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8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 ④：多 Provider logprobs 直采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5/8 直采 + 3/8 兑底 · usedLogprobs 字段透明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5669280" cy="5029200"/>
          </a:xfrm>
          <a:prstGeom prst="rect">
            <a:avLst>
              <a:gd name="adj" fmla="val 909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5/8 Provider 直采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协议族原生支持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5303520" cy="685800"/>
          </a:xfrm>
          <a:prstGeom prst="rect">
            <a:avLst/>
          </a:prstGeom>
          <a:solidFill>
            <a:srgbClr val="0F2A1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304288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103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openai-compatible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423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 OpenAI 兼容接口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0" y="2103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原生 logprobs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5303520" cy="685800"/>
          </a:xfrm>
          <a:prstGeom prst="rect">
            <a:avLst/>
          </a:prstGeom>
          <a:solidFill>
            <a:srgbClr val="0F2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081528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200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主用 Provider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0" y="2880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原生 logprobs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5303520" cy="685800"/>
          </a:xfrm>
          <a:prstGeom prst="rect">
            <a:avLst/>
          </a:prstGeom>
          <a:solidFill>
            <a:srgbClr val="0F2A1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858768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657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977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阿里通义千问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0" y="3657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原生 logprobs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389120"/>
            <a:ext cx="5303520" cy="685800"/>
          </a:xfrm>
          <a:prstGeom prst="rect">
            <a:avLst/>
          </a:prstGeom>
          <a:solidFill>
            <a:srgbClr val="0F2A1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4636008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434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volcengine-ark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4754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火山方舟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0" y="4434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原生 logprobs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166360"/>
            <a:ext cx="5303520" cy="685800"/>
          </a:xfrm>
          <a:prstGeom prst="rect">
            <a:avLst/>
          </a:prstGeom>
          <a:solidFill>
            <a:srgbClr val="0F2A1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5413248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212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5532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本地推理（兜底）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0" y="5212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原生 logprobs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1188720"/>
            <a:ext cx="5669280" cy="5029200"/>
          </a:xfrm>
          <a:prstGeom prst="rect">
            <a:avLst>
              <a:gd name="adj" fmla="val 909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1325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3/8 Provider 兑底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55080" y="16916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 OpenAI 协议族，需兑底方案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55080" y="2057400"/>
            <a:ext cx="5303520" cy="685800"/>
          </a:xfrm>
          <a:prstGeom prst="rect">
            <a:avLst/>
          </a:prstGeom>
          <a:solidFill>
            <a:srgbClr val="2A1F0F"/>
          </a:solidFill>
          <a:ln/>
        </p:spPr>
      </p:sp>
      <p:sp>
        <p:nvSpPr>
          <p:cNvPr id="38" name="Shape 36"/>
          <p:cNvSpPr/>
          <p:nvPr/>
        </p:nvSpPr>
        <p:spPr>
          <a:xfrm>
            <a:off x="6446520" y="2304288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6720840" y="2103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20840" y="2423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系列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006840" y="2103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thinking-block 兑底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55080" y="2834640"/>
            <a:ext cx="5303520" cy="685800"/>
          </a:xfrm>
          <a:prstGeom prst="rect">
            <a:avLst/>
          </a:prstGeom>
          <a:solidFill>
            <a:srgbClr val="2A1F0F"/>
          </a:solidFill>
          <a:ln/>
        </p:spPr>
      </p:sp>
      <p:sp>
        <p:nvSpPr>
          <p:cNvPr id="43" name="Shape 41"/>
          <p:cNvSpPr/>
          <p:nvPr/>
        </p:nvSpPr>
        <p:spPr>
          <a:xfrm>
            <a:off x="6446520" y="3081528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672084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20840" y="3200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 系列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006840" y="2880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text-fallback 兑底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55080" y="3611880"/>
            <a:ext cx="5303520" cy="685800"/>
          </a:xfrm>
          <a:prstGeom prst="rect">
            <a:avLst/>
          </a:prstGeom>
          <a:solidFill>
            <a:srgbClr val="2A1F0F"/>
          </a:solidFill>
          <a:ln/>
        </p:spPr>
      </p:sp>
      <p:sp>
        <p:nvSpPr>
          <p:cNvPr id="48" name="Shape 46"/>
          <p:cNvSpPr/>
          <p:nvPr/>
        </p:nvSpPr>
        <p:spPr>
          <a:xfrm>
            <a:off x="6446520" y="3858768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6720840" y="3657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claude-sdk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720840" y="3977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SDK 直连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006840" y="3657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thinking-block 兑底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55080" y="4572000"/>
            <a:ext cx="5303520" cy="1463040"/>
          </a:xfrm>
          <a:prstGeom prst="rect">
            <a:avLst/>
          </a:prstGeom>
          <a:solidFill>
            <a:srgbClr val="0F0F12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46520" y="4663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usedLogprobs 字段透明标记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446520" y="5029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583680" y="52578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"usedLogprobs": true,  // 直采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583680" y="54406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"usedLogprobs": false   // 兑底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46520" y="5623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355080" y="59436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UI 可见，用户知情「这是直采还是兑底」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8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 ⑤：PAOR 自主循环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Plan-Act-Observe-Reflect · 9 子 Agent · 可降级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0" y="2834640"/>
            <a:ext cx="1463040" cy="731520"/>
          </a:xfrm>
          <a:prstGeom prst="ellipse">
            <a:avLst/>
          </a:prstGeom>
          <a:solidFill>
            <a:srgbClr val="4F46E5"/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28803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PAOR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80560" y="2880360"/>
            <a:ext cx="1097280" cy="6400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926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3246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计划阶段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08960" y="4251960"/>
            <a:ext cx="10972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42976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4617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执行阶段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737360" y="2880360"/>
            <a:ext cx="10972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2926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37360" y="3246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观察阶段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108960" y="1508760"/>
            <a:ext cx="10972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Reflect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08960" y="1874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反思阶段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4846320"/>
            <a:ext cx="5669280" cy="1371600"/>
          </a:xfrm>
          <a:prstGeom prst="rect">
            <a:avLst>
              <a:gd name="adj" fmla="val 3333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937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9 个子 Agent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2578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Supervisor 编排，分工协作：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5577840"/>
            <a:ext cx="1005840" cy="274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59612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27632" y="5577840"/>
            <a:ext cx="1005840" cy="274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1627632" y="559612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Executor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06624" y="5577840"/>
            <a:ext cx="1005840" cy="274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Text 26"/>
          <p:cNvSpPr/>
          <p:nvPr/>
        </p:nvSpPr>
        <p:spPr>
          <a:xfrm>
            <a:off x="2706624" y="559612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85616" y="5577840"/>
            <a:ext cx="1005840" cy="274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Text 28"/>
          <p:cNvSpPr/>
          <p:nvPr/>
        </p:nvSpPr>
        <p:spPr>
          <a:xfrm>
            <a:off x="3785616" y="559612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Reflector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64608" y="5577840"/>
            <a:ext cx="1005840" cy="274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2" name="Text 30"/>
          <p:cNvSpPr/>
          <p:nvPr/>
        </p:nvSpPr>
        <p:spPr>
          <a:xfrm>
            <a:off x="4864608" y="559612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5897880"/>
            <a:ext cx="1005840" cy="274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59161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627632" y="5897880"/>
            <a:ext cx="1005840" cy="274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6" name="Text 34"/>
          <p:cNvSpPr/>
          <p:nvPr/>
        </p:nvSpPr>
        <p:spPr>
          <a:xfrm>
            <a:off x="1627632" y="59161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06624" y="5897880"/>
            <a:ext cx="1005840" cy="274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8" name="Text 36"/>
          <p:cNvSpPr/>
          <p:nvPr/>
        </p:nvSpPr>
        <p:spPr>
          <a:xfrm>
            <a:off x="2706624" y="59161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785616" y="5897880"/>
            <a:ext cx="1005840" cy="274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0" name="Text 38"/>
          <p:cNvSpPr/>
          <p:nvPr/>
        </p:nvSpPr>
        <p:spPr>
          <a:xfrm>
            <a:off x="3785616" y="59161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72200" y="1188720"/>
            <a:ext cx="5669280" cy="5029200"/>
          </a:xfrm>
          <a:prstGeom prst="rect">
            <a:avLst>
              <a:gd name="adj" fmla="val 909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1325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 降级与可追踪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355080" y="17830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不可用降级链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55080" y="2103120"/>
            <a:ext cx="5303520" cy="4572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45" name="Shape 43"/>
          <p:cNvSpPr/>
          <p:nvPr/>
        </p:nvSpPr>
        <p:spPr>
          <a:xfrm>
            <a:off x="6355080" y="2103120"/>
            <a:ext cx="9144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6537960" y="2148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PAOR 自主循环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78408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正常状态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55080" y="2606040"/>
            <a:ext cx="5303520" cy="4572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49" name="Shape 47"/>
          <p:cNvSpPr/>
          <p:nvPr/>
        </p:nvSpPr>
        <p:spPr>
          <a:xfrm>
            <a:off x="6355080" y="2606040"/>
            <a:ext cx="914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6537960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单步计划模式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78408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部分不可用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55080" y="3108960"/>
            <a:ext cx="5303520" cy="4572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53" name="Shape 51"/>
          <p:cNvSpPr/>
          <p:nvPr/>
        </p:nvSpPr>
        <p:spPr>
          <a:xfrm>
            <a:off x="6355080" y="3108960"/>
            <a:ext cx="9144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4" name="Text 52"/>
          <p:cNvSpPr/>
          <p:nvPr/>
        </p:nvSpPr>
        <p:spPr>
          <a:xfrm>
            <a:off x="6537960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规则匹配兜底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78408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完全不可用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355080" y="37947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循环审计可追踪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355080" y="41148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629400" y="4114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每步落盘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32104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审计日志 ~/.tdsf/audit/paor-*.jsonl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355080" y="449884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629400" y="44988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Plan/Act 链路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321040" y="44988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可回放完整决策路径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355080" y="488289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629400" y="488289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Reflect 反思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321040" y="488289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失败原因结构化记录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355080" y="526694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629400" y="526694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调用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8321040" y="526694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入参/出参/耗时全保留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355080" y="56509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629400" y="56509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 持久化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321040" y="56509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跨会话上下文不丢失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8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学术亮点汇总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源证据 + 公式透明 · Token 可见 · OpenTelemetry 可观测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5715000" cy="2468880"/>
          </a:xfrm>
          <a:prstGeom prst="rect">
            <a:avLst>
              <a:gd name="adj" fmla="val 185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57150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源证据权重 + 公式透明化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D-S + PCR5 融合规则完整展示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每源权重 0-1.0 可见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最终可信度数值化（如 0.82）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017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决策依据完全可追溯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1188720"/>
            <a:ext cx="5715000" cy="2468880"/>
          </a:xfrm>
          <a:prstGeom prst="rect">
            <a:avLst>
              <a:gd name="adj" fmla="val 185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188720"/>
            <a:ext cx="571500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951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消耗 UI 可见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1783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每次 LLM 调用实时显示 Token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37960" y="21945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prompt/completion 分别计数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37960" y="2606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累计 Token + 估算成本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37960" y="3017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Grok Build 数据丑闻反面教材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794760"/>
            <a:ext cx="5715000" cy="2468880"/>
          </a:xfrm>
          <a:prstGeom prst="rect">
            <a:avLst>
              <a:gd name="adj" fmla="val 185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794760"/>
            <a:ext cx="57150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840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7280" y="3840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OpenTelemetry + Langfuse 可观测性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3891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全链路 trace 追踪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800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每个 IPC 调用 span 化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5212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Sidecar 进程 metric 上报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56235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Langfuse 可视化看板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63640" y="3794760"/>
            <a:ext cx="5715000" cy="2468880"/>
          </a:xfrm>
          <a:prstGeom prst="rect">
            <a:avLst>
              <a:gd name="adj" fmla="val 185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3794760"/>
            <a:ext cx="5715000" cy="4572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3840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📜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995160" y="3840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决策可追踪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37960" y="43891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PAOR 每步落盘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37960" y="4800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HITL 审批日志保留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37960" y="5212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风险评分证据链完整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37960" y="56235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失败可回放重放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8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行业对标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Grok Build / AgentScope / Hermes · TDSF 优势矩阵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11430000" cy="5029200"/>
          </a:xfrm>
          <a:prstGeom prst="rect">
            <a:avLst>
              <a:gd name="adj" fmla="val 909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TDSF 优势矩阵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对比维度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 Build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AgentScope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50976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TDSF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286000"/>
            <a:ext cx="11064240" cy="411480"/>
          </a:xfrm>
          <a:prstGeom prst="rect">
            <a:avLst/>
          </a:prstGeom>
          <a:solidFill>
            <a:srgbClr val="1F1F2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31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数据透明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26080" y="2331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数据丑闻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0" y="2331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部分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0" y="2331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部分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509760" y="2331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全透明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2788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权限模型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0" y="2788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无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2788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简单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0" y="2788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后台 Review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509760" y="2788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三态审批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200400"/>
            <a:ext cx="11064240" cy="411480"/>
          </a:xfrm>
          <a:prstGeom prst="rect">
            <a:avLst/>
          </a:prstGeom>
          <a:solidFill>
            <a:srgbClr val="1F1F23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246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后台审计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0" y="3246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无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3246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日志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0" y="3246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异步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509760" y="3246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主后台解耦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3703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可见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2608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隐藏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2064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部分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无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50976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UI 实时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4114800"/>
            <a:ext cx="11064240" cy="411480"/>
          </a:xfrm>
          <a:prstGeom prst="rect">
            <a:avLst/>
          </a:prstGeom>
          <a:solidFill>
            <a:srgbClr val="1F1F23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160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可信度算法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926080" y="4160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无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20640" y="4160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无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15200" y="4160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启发式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509760" y="4160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D-S+PCR5 论文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" y="4617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离线可用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926080" y="4617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否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20640" y="4617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否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15200" y="4617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否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509760" y="4617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补全+评分+日志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5029200"/>
            <a:ext cx="11064240" cy="411480"/>
          </a:xfrm>
          <a:prstGeom prst="rect">
            <a:avLst/>
          </a:prstGeom>
          <a:solidFill>
            <a:srgbClr val="1F1F23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5074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容错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926080" y="5074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单点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120640" y="5074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部分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315200" y="5074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部分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509760" y="5074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8 Provider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0080" y="5532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926080" y="5532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弱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120640" y="5532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日志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315200" y="5532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部分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509760" y="5532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OTel+Langfuse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9" name="Text 57"/>
          <p:cNvSpPr/>
          <p:nvPr/>
        </p:nvSpPr>
        <p:spPr>
          <a:xfrm>
            <a:off x="640080" y="6007608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🏆 TDSF 8 维度全部领先，论文 + 工程双支撑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8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TDSF Linux Desktop 创新点与学术亮点</dc:title>
  <dc:subject>PptxGenJS Presentation</dc:subject>
  <dc:creator>TDSF Team</dc:creator>
  <cp:lastModifiedBy>TDSF Team</cp:lastModifiedBy>
  <cp:revision>1</cp:revision>
  <dcterms:created xsi:type="dcterms:W3CDTF">2026-07-25T07:13:29Z</dcterms:created>
  <dcterms:modified xsi:type="dcterms:W3CDTF">2026-07-25T07:13:29Z</dcterms:modified>
</cp:coreProperties>
</file>